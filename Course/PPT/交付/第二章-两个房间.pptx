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5288768" cy="8604504"/>
  <p:notesSz cx="8604504" cy="1528876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讲法：这里只有纸笔，大家能读任务、写邮件草稿，但没有发送工具。先问“邮件发出去了吗？”，再揭晓答案。动画建议：点击1提问，点击2答案。当前为完整静态页面，后续由讲师添加动画。
房间是教学比喻，不表示模型内部真的有人。区别在于应用有没有工具和权限，不在网页端或本地端。主要文字可编辑。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法：同一个房间配上工作规则、工具清单、外部操作员。人写工具请求，操作员代表应用程序，执行工具后把结果补回纸条。第一轮查邮箱，第二轮读到邮箱后写草稿，请用户确认；确认后操作员发送，把回执带回来；第三轮读到回执后才报告完成。
三个人比喻同一个模型的多轮调用，不是三个不同模型。每一轮都需要应用携带原任务、历史与工具结果。画面省略了部分产品在用户确认后再次调用模型生成发送请求的步骤。发送结果均为教学模拟；工具失败时不能报告完成。
互动：谁真正按下发送？是操作员代表的软件调用邮件工具。
动画建议：点击1规则图层；点击2工具清单图层；点击3操作员图层及标签；点击4至8依次出现右侧五条记录；点击9出现结论。三张透明图层独立可选，主要文字可编辑，当前没有设置动画。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58368"/>
            <a:ext cx="13972032" cy="658368"/>
          </a:xfrm>
          <a:prstGeom prst="rect">
            <a:avLst/>
          </a:prstGeom>
          <a:noFill/>
          <a:ln/>
        </p:spPr>
        <p:txBody>
          <a:bodyPr wrap="square" lIns="0" tIns="0" rIns="0" bIns="0" rtlCol="0" anchor="t"/>
          <a:lstStyle/>
          <a:p>
            <a:pPr indent="0" marL="0">
              <a:buNone/>
            </a:pPr>
            <a:r>
              <a:rPr lang="en-US" sz="3744" b="1" dirty="0">
                <a:solidFill>
                  <a:srgbClr val="0E1E36"/>
                </a:solidFill>
                <a:latin typeface="PingFang SC" pitchFamily="34" charset="0"/>
                <a:ea typeface="PingFang SC" pitchFamily="34" charset="-122"/>
                <a:cs typeface="PingFang SC" pitchFamily="34" charset="-120"/>
              </a:rPr>
              <a:t>只有纸笔的房间</a:t>
            </a:r>
            <a:endParaRPr lang="en-US" sz="3744" dirty="0"/>
          </a:p>
        </p:txBody>
      </p:sp>
      <p:sp>
        <p:nvSpPr>
          <p:cNvPr id="3" name="Shape 1"/>
          <p:cNvSpPr/>
          <p:nvPr/>
        </p:nvSpPr>
        <p:spPr>
          <a:xfrm>
            <a:off x="658368" y="1490472"/>
            <a:ext cx="365760" cy="27432"/>
          </a:xfrm>
          <a:prstGeom prst="rect">
            <a:avLst/>
          </a:prstGeom>
          <a:solidFill>
            <a:srgbClr val="D98B3A"/>
          </a:solidFill>
          <a:ln w="8890">
            <a:solidFill>
              <a:srgbClr val="D98B3A"/>
            </a:solidFill>
            <a:prstDash val="solid"/>
          </a:ln>
        </p:spPr>
      </p:sp>
      <p:sp>
        <p:nvSpPr>
          <p:cNvPr id="4" name="Shape 2"/>
          <p:cNvSpPr/>
          <p:nvPr/>
        </p:nvSpPr>
        <p:spPr>
          <a:xfrm>
            <a:off x="658368" y="1883664"/>
            <a:ext cx="13972032" cy="640080"/>
          </a:xfrm>
          <a:prstGeom prst="rect">
            <a:avLst/>
          </a:prstGeom>
          <a:solidFill>
            <a:srgbClr val="F5F6F8"/>
          </a:solidFill>
          <a:ln w="8890">
            <a:solidFill>
              <a:srgbClr val="F5F6F8"/>
            </a:solidFill>
            <a:prstDash val="solid"/>
          </a:ln>
        </p:spPr>
      </p:sp>
      <p:sp>
        <p:nvSpPr>
          <p:cNvPr id="5" name="Text 3"/>
          <p:cNvSpPr/>
          <p:nvPr/>
        </p:nvSpPr>
        <p:spPr>
          <a:xfrm>
            <a:off x="877824" y="2029968"/>
            <a:ext cx="13533120" cy="438912"/>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给张经理发邮件：明天的会改到下午三点。发送前先给我确认。</a:t>
            </a:r>
            <a:endParaRPr lang="en-US" sz="2016" dirty="0"/>
          </a:p>
        </p:txBody>
      </p:sp>
      <p:sp>
        <p:nvSpPr>
          <p:cNvPr id="6" name="Text 4"/>
          <p:cNvSpPr/>
          <p:nvPr/>
        </p:nvSpPr>
        <p:spPr>
          <a:xfrm>
            <a:off x="14081760" y="8138160"/>
            <a:ext cx="548640" cy="310896"/>
          </a:xfrm>
          <a:prstGeom prst="rect">
            <a:avLst/>
          </a:prstGeom>
          <a:noFill/>
          <a:ln/>
        </p:spPr>
        <p:txBody>
          <a:bodyPr wrap="square" lIns="0" tIns="0" rIns="0" bIns="0" rtlCol="0" anchor="t"/>
          <a:lstStyle/>
          <a:p>
            <a:pPr indent="0" marL="0">
              <a:buNone/>
            </a:pPr>
            <a:r>
              <a:rPr lang="en-US" sz="1296" dirty="0">
                <a:solidFill>
                  <a:srgbClr val="6B778A"/>
                </a:solidFill>
                <a:latin typeface="PingFang SC" pitchFamily="34" charset="0"/>
                <a:ea typeface="PingFang SC" pitchFamily="34" charset="-122"/>
                <a:cs typeface="PingFang SC" pitchFamily="34" charset="-120"/>
              </a:rPr>
              <a:t>18</a:t>
            </a:r>
            <a:endParaRPr lang="en-US" sz="1296" dirty="0"/>
          </a:p>
        </p:txBody>
      </p:sp>
      <p:pic>
        <p:nvPicPr>
          <p:cNvPr id="7" name="Image 0" descr="/Users/w/code/For-Use-AI/Course/PPT/assets/room-a.png">    </p:cNvPr>
          <p:cNvPicPr>
            <a:picLocks noChangeAspect="1"/>
          </p:cNvPicPr>
          <p:nvPr/>
        </p:nvPicPr>
        <p:blipFill>
          <a:blip r:embed="rId1"/>
          <a:stretch>
            <a:fillRect/>
          </a:stretch>
        </p:blipFill>
        <p:spPr>
          <a:xfrm>
            <a:off x="658368" y="2578608"/>
            <a:ext cx="8869680" cy="5486400"/>
          </a:xfrm>
          <a:prstGeom prst="rect">
            <a:avLst/>
          </a:prstGeom>
        </p:spPr>
      </p:pic>
      <p:sp>
        <p:nvSpPr>
          <p:cNvPr id="8" name="Text 5"/>
          <p:cNvSpPr/>
          <p:nvPr/>
        </p:nvSpPr>
        <p:spPr>
          <a:xfrm>
            <a:off x="3291840" y="7223760"/>
            <a:ext cx="3474720" cy="493776"/>
          </a:xfrm>
          <a:prstGeom prst="rect">
            <a:avLst/>
          </a:prstGeom>
          <a:noFill/>
          <a:ln/>
        </p:spPr>
        <p:txBody>
          <a:bodyPr wrap="square" lIns="0" tIns="0" rIns="0" bIns="0" rtlCol="0" anchor="t"/>
          <a:lstStyle/>
          <a:p>
            <a:pPr indent="0" marL="0">
              <a:buNone/>
            </a:pPr>
            <a:r>
              <a:rPr lang="en-US" sz="2304" b="1" dirty="0">
                <a:solidFill>
                  <a:srgbClr val="0E1E36"/>
                </a:solidFill>
                <a:latin typeface="PingFang SC" pitchFamily="34" charset="0"/>
                <a:ea typeface="PingFang SC" pitchFamily="34" charset="-122"/>
                <a:cs typeface="PingFang SC" pitchFamily="34" charset="-120"/>
              </a:rPr>
              <a:t>读任务，写回复</a:t>
            </a:r>
            <a:endParaRPr lang="en-US" sz="2304" dirty="0"/>
          </a:p>
        </p:txBody>
      </p:sp>
      <p:sp>
        <p:nvSpPr>
          <p:cNvPr id="9" name="Text 6"/>
          <p:cNvSpPr/>
          <p:nvPr/>
        </p:nvSpPr>
        <p:spPr>
          <a:xfrm>
            <a:off x="950976" y="7808976"/>
            <a:ext cx="731520" cy="347472"/>
          </a:xfrm>
          <a:prstGeom prst="rect">
            <a:avLst/>
          </a:prstGeom>
          <a:noFill/>
          <a:ln/>
        </p:spPr>
        <p:txBody>
          <a:bodyPr wrap="square" lIns="0" tIns="0" rIns="0" bIns="0" rtlCol="0" anchor="t"/>
          <a:lstStyle/>
          <a:p>
            <a:pPr indent="0" marL="0">
              <a:buNone/>
            </a:pPr>
            <a:r>
              <a:rPr lang="en-US" sz="2016" b="1" dirty="0">
                <a:solidFill>
                  <a:srgbClr val="0E1E36"/>
                </a:solidFill>
                <a:latin typeface="PingFang SC" pitchFamily="34" charset="0"/>
                <a:ea typeface="PingFang SC" pitchFamily="34" charset="-122"/>
                <a:cs typeface="PingFang SC" pitchFamily="34" charset="-120"/>
              </a:rPr>
              <a:t>你</a:t>
            </a:r>
            <a:endParaRPr lang="en-US" sz="2016" dirty="0"/>
          </a:p>
        </p:txBody>
      </p:sp>
      <p:sp>
        <p:nvSpPr>
          <p:cNvPr id="10" name="Shape 7"/>
          <p:cNvSpPr/>
          <p:nvPr/>
        </p:nvSpPr>
        <p:spPr>
          <a:xfrm>
            <a:off x="10259568" y="2980944"/>
            <a:ext cx="4279392" cy="3986784"/>
          </a:xfrm>
          <a:prstGeom prst="rect">
            <a:avLst/>
          </a:prstGeom>
          <a:solidFill>
            <a:srgbClr val="E2EAF6"/>
          </a:solidFill>
          <a:ln w="8890">
            <a:solidFill>
              <a:srgbClr val="E2EAF6"/>
            </a:solidFill>
            <a:prstDash val="solid"/>
          </a:ln>
        </p:spPr>
      </p:sp>
      <p:sp>
        <p:nvSpPr>
          <p:cNvPr id="11" name="Shape 8"/>
          <p:cNvSpPr/>
          <p:nvPr/>
        </p:nvSpPr>
        <p:spPr>
          <a:xfrm>
            <a:off x="10168128" y="2889504"/>
            <a:ext cx="4279392" cy="3986784"/>
          </a:xfrm>
          <a:prstGeom prst="rect">
            <a:avLst/>
          </a:prstGeom>
          <a:solidFill>
            <a:srgbClr val="FFFFFF"/>
          </a:solidFill>
          <a:ln w="8890">
            <a:solidFill>
              <a:srgbClr val="D7DFE9"/>
            </a:solidFill>
            <a:prstDash val="solid"/>
          </a:ln>
        </p:spPr>
      </p:sp>
      <p:sp>
        <p:nvSpPr>
          <p:cNvPr id="12" name="Shape 9"/>
          <p:cNvSpPr/>
          <p:nvPr/>
        </p:nvSpPr>
        <p:spPr>
          <a:xfrm>
            <a:off x="10168128" y="2889504"/>
            <a:ext cx="4279392" cy="45720"/>
          </a:xfrm>
          <a:prstGeom prst="rect">
            <a:avLst/>
          </a:prstGeom>
          <a:solidFill>
            <a:srgbClr val="2F5BD3"/>
          </a:solidFill>
          <a:ln w="8890">
            <a:solidFill>
              <a:srgbClr val="2F5BD3"/>
            </a:solidFill>
            <a:prstDash val="solid"/>
          </a:ln>
        </p:spPr>
      </p:sp>
      <p:sp>
        <p:nvSpPr>
          <p:cNvPr id="13" name="Text 10"/>
          <p:cNvSpPr/>
          <p:nvPr/>
        </p:nvSpPr>
        <p:spPr>
          <a:xfrm>
            <a:off x="10424160" y="3127248"/>
            <a:ext cx="3767328" cy="512064"/>
          </a:xfrm>
          <a:prstGeom prst="rect">
            <a:avLst/>
          </a:prstGeom>
          <a:noFill/>
          <a:ln/>
        </p:spPr>
        <p:txBody>
          <a:bodyPr wrap="square" lIns="0" tIns="0" rIns="0" bIns="0" rtlCol="0" anchor="t"/>
          <a:lstStyle/>
          <a:p>
            <a:pPr indent="0" marL="0">
              <a:buNone/>
            </a:pPr>
            <a:r>
              <a:rPr lang="en-US" sz="2304" b="1" dirty="0">
                <a:solidFill>
                  <a:srgbClr val="0E1E36"/>
                </a:solidFill>
                <a:latin typeface="PingFang SC" pitchFamily="34" charset="0"/>
                <a:ea typeface="PingFang SC" pitchFamily="34" charset="-122"/>
                <a:cs typeface="PingFang SC" pitchFamily="34" charset="-120"/>
              </a:rPr>
              <a:t>写好的邮件草稿</a:t>
            </a:r>
            <a:endParaRPr lang="en-US" sz="2304" dirty="0"/>
          </a:p>
        </p:txBody>
      </p:sp>
      <p:sp>
        <p:nvSpPr>
          <p:cNvPr id="14" name="Text 11"/>
          <p:cNvSpPr/>
          <p:nvPr/>
        </p:nvSpPr>
        <p:spPr>
          <a:xfrm>
            <a:off x="10424160" y="3813048"/>
            <a:ext cx="3767328" cy="475488"/>
          </a:xfrm>
          <a:prstGeom prst="rect">
            <a:avLst/>
          </a:prstGeom>
          <a:noFill/>
          <a:ln/>
        </p:spPr>
        <p:txBody>
          <a:bodyPr wrap="square" lIns="0" tIns="0" rIns="0" bIns="0" rtlCol="0" anchor="t"/>
          <a:lstStyle/>
          <a:p>
            <a:pPr indent="0" marL="0">
              <a:buNone/>
            </a:pPr>
            <a:r>
              <a:rPr lang="en-US" sz="2016" b="1" dirty="0">
                <a:solidFill>
                  <a:srgbClr val="0E1E36"/>
                </a:solidFill>
                <a:latin typeface="PingFang SC" pitchFamily="34" charset="0"/>
                <a:ea typeface="PingFang SC" pitchFamily="34" charset="-122"/>
                <a:cs typeface="PingFang SC" pitchFamily="34" charset="-120"/>
              </a:rPr>
              <a:t>主题：会议改期通知</a:t>
            </a:r>
            <a:endParaRPr lang="en-US" sz="2016" dirty="0"/>
          </a:p>
        </p:txBody>
      </p:sp>
      <p:sp>
        <p:nvSpPr>
          <p:cNvPr id="15" name="Text 12"/>
          <p:cNvSpPr/>
          <p:nvPr/>
        </p:nvSpPr>
        <p:spPr>
          <a:xfrm>
            <a:off x="10424160" y="4471416"/>
            <a:ext cx="3767328" cy="1371600"/>
          </a:xfrm>
          <a:prstGeom prst="rect">
            <a:avLst/>
          </a:prstGeom>
          <a:noFill/>
          <a:ln/>
        </p:spPr>
        <p:txBody>
          <a:bodyPr wrap="square" lIns="0" tIns="0" rIns="0" bIns="0" rtlCol="0" anchor="t"/>
          <a:lstStyle/>
          <a:p>
            <a:pPr indent="0" marL="0">
              <a:buNone/>
            </a:pPr>
            <a:r>
              <a:rPr lang="en-US" sz="2016" dirty="0">
                <a:solidFill>
                  <a:srgbClr val="46556B"/>
                </a:solidFill>
                <a:latin typeface="PingFang SC" pitchFamily="34" charset="0"/>
                <a:ea typeface="PingFang SC" pitchFamily="34" charset="-122"/>
                <a:cs typeface="PingFang SC" pitchFamily="34" charset="-120"/>
              </a:rPr>
              <a:t>张经理您好，</a:t>
            </a:r>
            <a:endParaRPr lang="en-US" sz="2016" dirty="0"/>
          </a:p>
          <a:p>
            <a:pPr indent="0" marL="0">
              <a:buNone/>
            </a:pPr>
            <a:r>
              <a:rPr lang="en-US" sz="2016" dirty="0">
                <a:solidFill>
                  <a:srgbClr val="46556B"/>
                </a:solidFill>
                <a:latin typeface="PingFang SC" pitchFamily="34" charset="0"/>
                <a:ea typeface="PingFang SC" pitchFamily="34" charset="-122"/>
                <a:cs typeface="PingFang SC" pitchFamily="34" charset="-120"/>
              </a:rPr>
              <a:t>明天的会议改到下午三点，</a:t>
            </a:r>
            <a:endParaRPr lang="en-US" sz="2016" dirty="0"/>
          </a:p>
          <a:p>
            <a:pPr indent="0" marL="0">
              <a:buNone/>
            </a:pPr>
            <a:r>
              <a:rPr lang="en-US" sz="2016" dirty="0">
                <a:solidFill>
                  <a:srgbClr val="46556B"/>
                </a:solidFill>
                <a:latin typeface="PingFang SC" pitchFamily="34" charset="0"/>
                <a:ea typeface="PingFang SC" pitchFamily="34" charset="-122"/>
                <a:cs typeface="PingFang SC" pitchFamily="34" charset="-120"/>
              </a:rPr>
              <a:t>请您知悉。</a:t>
            </a:r>
            <a:endParaRPr lang="en-US" sz="2016" dirty="0"/>
          </a:p>
        </p:txBody>
      </p:sp>
      <p:sp>
        <p:nvSpPr>
          <p:cNvPr id="16" name="Text 13"/>
          <p:cNvSpPr/>
          <p:nvPr/>
        </p:nvSpPr>
        <p:spPr>
          <a:xfrm>
            <a:off x="10168128" y="7132320"/>
            <a:ext cx="4462272" cy="530352"/>
          </a:xfrm>
          <a:prstGeom prst="rect">
            <a:avLst/>
          </a:prstGeom>
          <a:noFill/>
          <a:ln/>
        </p:spPr>
        <p:txBody>
          <a:bodyPr wrap="square" lIns="0" tIns="0" rIns="0" bIns="0" rtlCol="0" anchor="t"/>
          <a:lstStyle/>
          <a:p>
            <a:pPr indent="0" marL="0">
              <a:buNone/>
            </a:pPr>
            <a:r>
              <a:rPr lang="en-US" sz="2880" b="1" dirty="0">
                <a:solidFill>
                  <a:srgbClr val="0E1E36"/>
                </a:solidFill>
                <a:latin typeface="PingFang SC" pitchFamily="34" charset="0"/>
                <a:ea typeface="PingFang SC" pitchFamily="34" charset="-122"/>
                <a:cs typeface="PingFang SC" pitchFamily="34" charset="-120"/>
              </a:rPr>
              <a:t>邮件发出去了吗？</a:t>
            </a:r>
            <a:endParaRPr lang="en-US" sz="2880" dirty="0"/>
          </a:p>
        </p:txBody>
      </p:sp>
      <p:sp>
        <p:nvSpPr>
          <p:cNvPr id="17" name="Text 14"/>
          <p:cNvSpPr/>
          <p:nvPr/>
        </p:nvSpPr>
        <p:spPr>
          <a:xfrm>
            <a:off x="10168128" y="7726680"/>
            <a:ext cx="4462272" cy="438912"/>
          </a:xfrm>
          <a:prstGeom prst="rect">
            <a:avLst/>
          </a:prstGeom>
          <a:noFill/>
          <a:ln/>
        </p:spPr>
        <p:txBody>
          <a:bodyPr wrap="square" lIns="0" tIns="0" rIns="0" bIns="0" rtlCol="0" anchor="t"/>
          <a:lstStyle/>
          <a:p>
            <a:pPr indent="0" marL="0">
              <a:buNone/>
            </a:pPr>
            <a:r>
              <a:rPr lang="en-US" sz="2016" b="1" dirty="0">
                <a:solidFill>
                  <a:srgbClr val="2F5BD3"/>
                </a:solidFill>
                <a:latin typeface="PingFang SC" pitchFamily="34" charset="0"/>
                <a:ea typeface="PingFang SC" pitchFamily="34" charset="-122"/>
                <a:cs typeface="PingFang SC" pitchFamily="34" charset="-120"/>
              </a:rPr>
              <a:t>还没有。只有草稿。</a:t>
            </a:r>
            <a:endParaRPr lang="en-US" sz="201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58368"/>
            <a:ext cx="13972032" cy="658368"/>
          </a:xfrm>
          <a:prstGeom prst="rect">
            <a:avLst/>
          </a:prstGeom>
          <a:noFill/>
          <a:ln/>
        </p:spPr>
        <p:txBody>
          <a:bodyPr wrap="square" lIns="0" tIns="0" rIns="0" bIns="0" rtlCol="0" anchor="t"/>
          <a:lstStyle/>
          <a:p>
            <a:pPr indent="0" marL="0">
              <a:buNone/>
            </a:pPr>
            <a:r>
              <a:rPr lang="en-US" sz="3744" b="1" dirty="0">
                <a:solidFill>
                  <a:srgbClr val="0E1E36"/>
                </a:solidFill>
                <a:latin typeface="PingFang SC" pitchFamily="34" charset="0"/>
                <a:ea typeface="PingFang SC" pitchFamily="34" charset="-122"/>
                <a:cs typeface="PingFang SC" pitchFamily="34" charset="-120"/>
              </a:rPr>
              <a:t>配齐工具的房间</a:t>
            </a:r>
            <a:endParaRPr lang="en-US" sz="3744" dirty="0"/>
          </a:p>
        </p:txBody>
      </p:sp>
      <p:sp>
        <p:nvSpPr>
          <p:cNvPr id="3" name="Shape 1"/>
          <p:cNvSpPr/>
          <p:nvPr/>
        </p:nvSpPr>
        <p:spPr>
          <a:xfrm>
            <a:off x="658368" y="1490472"/>
            <a:ext cx="365760" cy="27432"/>
          </a:xfrm>
          <a:prstGeom prst="rect">
            <a:avLst/>
          </a:prstGeom>
          <a:solidFill>
            <a:srgbClr val="D98B3A"/>
          </a:solidFill>
          <a:ln w="8890">
            <a:solidFill>
              <a:srgbClr val="D98B3A"/>
            </a:solidFill>
            <a:prstDash val="solid"/>
          </a:ln>
        </p:spPr>
      </p:sp>
      <p:sp>
        <p:nvSpPr>
          <p:cNvPr id="4" name="Shape 2"/>
          <p:cNvSpPr/>
          <p:nvPr/>
        </p:nvSpPr>
        <p:spPr>
          <a:xfrm>
            <a:off x="658368" y="1883664"/>
            <a:ext cx="13972032" cy="640080"/>
          </a:xfrm>
          <a:prstGeom prst="rect">
            <a:avLst/>
          </a:prstGeom>
          <a:solidFill>
            <a:srgbClr val="F5F6F8"/>
          </a:solidFill>
          <a:ln w="8890">
            <a:solidFill>
              <a:srgbClr val="F5F6F8"/>
            </a:solidFill>
            <a:prstDash val="solid"/>
          </a:ln>
        </p:spPr>
      </p:sp>
      <p:sp>
        <p:nvSpPr>
          <p:cNvPr id="5" name="Text 3"/>
          <p:cNvSpPr/>
          <p:nvPr/>
        </p:nvSpPr>
        <p:spPr>
          <a:xfrm>
            <a:off x="877824" y="2029968"/>
            <a:ext cx="13533120" cy="438912"/>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给张经理发邮件：明天的会改到下午三点。发送前先给我确认。</a:t>
            </a:r>
            <a:endParaRPr lang="en-US" sz="2016" dirty="0"/>
          </a:p>
        </p:txBody>
      </p:sp>
      <p:sp>
        <p:nvSpPr>
          <p:cNvPr id="6" name="Text 4"/>
          <p:cNvSpPr/>
          <p:nvPr/>
        </p:nvSpPr>
        <p:spPr>
          <a:xfrm>
            <a:off x="14081760" y="8138160"/>
            <a:ext cx="548640" cy="310896"/>
          </a:xfrm>
          <a:prstGeom prst="rect">
            <a:avLst/>
          </a:prstGeom>
          <a:noFill/>
          <a:ln/>
        </p:spPr>
        <p:txBody>
          <a:bodyPr wrap="square" lIns="0" tIns="0" rIns="0" bIns="0" rtlCol="0" anchor="t"/>
          <a:lstStyle/>
          <a:p>
            <a:pPr indent="0" marL="0">
              <a:buNone/>
            </a:pPr>
            <a:r>
              <a:rPr lang="en-US" sz="1296" dirty="0">
                <a:solidFill>
                  <a:srgbClr val="6B778A"/>
                </a:solidFill>
                <a:latin typeface="PingFang SC" pitchFamily="34" charset="0"/>
                <a:ea typeface="PingFang SC" pitchFamily="34" charset="-122"/>
                <a:cs typeface="PingFang SC" pitchFamily="34" charset="-120"/>
              </a:rPr>
              <a:t>19</a:t>
            </a:r>
            <a:endParaRPr lang="en-US" sz="1296" dirty="0"/>
          </a:p>
        </p:txBody>
      </p:sp>
      <p:pic>
        <p:nvPicPr>
          <p:cNvPr id="7" name="Image 0" descr="/Users/w/code/For-Use-AI/Course/PPT/assets/room-a.png">    </p:cNvPr>
          <p:cNvPicPr>
            <a:picLocks noChangeAspect="1"/>
          </p:cNvPicPr>
          <p:nvPr/>
        </p:nvPicPr>
        <p:blipFill>
          <a:blip r:embed="rId1"/>
          <a:stretch>
            <a:fillRect/>
          </a:stretch>
        </p:blipFill>
        <p:spPr>
          <a:xfrm>
            <a:off x="658368" y="2578608"/>
            <a:ext cx="8869680" cy="5486400"/>
          </a:xfrm>
          <a:prstGeom prst="rect">
            <a:avLst/>
          </a:prstGeom>
        </p:spPr>
      </p:pic>
      <p:pic>
        <p:nvPicPr>
          <p:cNvPr id="8" name="Image 1" descr="/Users/w/code/For-Use-AI/Course/PPT/assets/room-layer-rules.png">    </p:cNvPr>
          <p:cNvPicPr>
            <a:picLocks noChangeAspect="1"/>
          </p:cNvPicPr>
          <p:nvPr/>
        </p:nvPicPr>
        <p:blipFill>
          <a:blip r:embed="rId2"/>
          <a:stretch>
            <a:fillRect/>
          </a:stretch>
        </p:blipFill>
        <p:spPr>
          <a:xfrm>
            <a:off x="658368" y="2578608"/>
            <a:ext cx="8869680" cy="5486400"/>
          </a:xfrm>
          <a:prstGeom prst="rect">
            <a:avLst/>
          </a:prstGeom>
        </p:spPr>
      </p:pic>
      <p:pic>
        <p:nvPicPr>
          <p:cNvPr id="9" name="Image 2" descr="/Users/w/code/For-Use-AI/Course/PPT/assets/room-layer-tools.png">    </p:cNvPr>
          <p:cNvPicPr>
            <a:picLocks noChangeAspect="1"/>
          </p:cNvPicPr>
          <p:nvPr/>
        </p:nvPicPr>
        <p:blipFill>
          <a:blip r:embed="rId3"/>
          <a:stretch>
            <a:fillRect/>
          </a:stretch>
        </p:blipFill>
        <p:spPr>
          <a:xfrm>
            <a:off x="658368" y="2578608"/>
            <a:ext cx="8869680" cy="5486400"/>
          </a:xfrm>
          <a:prstGeom prst="rect">
            <a:avLst/>
          </a:prstGeom>
        </p:spPr>
      </p:pic>
      <p:pic>
        <p:nvPicPr>
          <p:cNvPr id="10" name="Image 3" descr="/Users/w/code/For-Use-AI/Course/PPT/assets/room-layer-operator.png">    </p:cNvPr>
          <p:cNvPicPr>
            <a:picLocks noChangeAspect="1"/>
          </p:cNvPicPr>
          <p:nvPr/>
        </p:nvPicPr>
        <p:blipFill>
          <a:blip r:embed="rId4"/>
          <a:stretch>
            <a:fillRect/>
          </a:stretch>
        </p:blipFill>
        <p:spPr>
          <a:xfrm>
            <a:off x="658368" y="2578608"/>
            <a:ext cx="8869680" cy="5486400"/>
          </a:xfrm>
          <a:prstGeom prst="rect">
            <a:avLst/>
          </a:prstGeom>
        </p:spPr>
      </p:pic>
      <p:sp>
        <p:nvSpPr>
          <p:cNvPr id="11" name="Text 5"/>
          <p:cNvSpPr/>
          <p:nvPr/>
        </p:nvSpPr>
        <p:spPr>
          <a:xfrm>
            <a:off x="950976" y="7808976"/>
            <a:ext cx="731520" cy="347472"/>
          </a:xfrm>
          <a:prstGeom prst="rect">
            <a:avLst/>
          </a:prstGeom>
          <a:noFill/>
          <a:ln/>
        </p:spPr>
        <p:txBody>
          <a:bodyPr wrap="square" lIns="0" tIns="0" rIns="0" bIns="0" rtlCol="0" anchor="t"/>
          <a:lstStyle/>
          <a:p>
            <a:pPr indent="0" marL="0">
              <a:buNone/>
            </a:pPr>
            <a:r>
              <a:rPr lang="en-US" sz="2016" b="1" dirty="0">
                <a:solidFill>
                  <a:srgbClr val="0E1E36"/>
                </a:solidFill>
                <a:latin typeface="PingFang SC" pitchFamily="34" charset="0"/>
                <a:ea typeface="PingFang SC" pitchFamily="34" charset="-122"/>
                <a:cs typeface="PingFang SC" pitchFamily="34" charset="-120"/>
              </a:rPr>
              <a:t>你</a:t>
            </a:r>
            <a:endParaRPr lang="en-US" sz="2016" dirty="0"/>
          </a:p>
        </p:txBody>
      </p:sp>
      <p:sp>
        <p:nvSpPr>
          <p:cNvPr id="12" name="Text 6"/>
          <p:cNvSpPr/>
          <p:nvPr/>
        </p:nvSpPr>
        <p:spPr>
          <a:xfrm>
            <a:off x="8010144" y="7488936"/>
            <a:ext cx="1645920" cy="438912"/>
          </a:xfrm>
          <a:prstGeom prst="rect">
            <a:avLst/>
          </a:prstGeom>
          <a:noFill/>
          <a:ln/>
        </p:spPr>
        <p:txBody>
          <a:bodyPr wrap="square" lIns="0" tIns="0" rIns="0" bIns="0" rtlCol="0" anchor="t"/>
          <a:lstStyle/>
          <a:p>
            <a:pPr indent="0" marL="0">
              <a:buNone/>
            </a:pPr>
            <a:r>
              <a:rPr lang="en-US" sz="2016" b="1" dirty="0">
                <a:solidFill>
                  <a:srgbClr val="0E1E36"/>
                </a:solidFill>
                <a:latin typeface="PingFang SC" pitchFamily="34" charset="0"/>
                <a:ea typeface="PingFang SC" pitchFamily="34" charset="-122"/>
                <a:cs typeface="PingFang SC" pitchFamily="34" charset="-120"/>
              </a:rPr>
              <a:t>操作员</a:t>
            </a:r>
            <a:endParaRPr lang="en-US" sz="2016" dirty="0"/>
          </a:p>
        </p:txBody>
      </p:sp>
      <p:sp>
        <p:nvSpPr>
          <p:cNvPr id="13" name="Shape 7"/>
          <p:cNvSpPr/>
          <p:nvPr/>
        </p:nvSpPr>
        <p:spPr>
          <a:xfrm>
            <a:off x="10259568" y="2980944"/>
            <a:ext cx="4279392" cy="3986784"/>
          </a:xfrm>
          <a:prstGeom prst="rect">
            <a:avLst/>
          </a:prstGeom>
          <a:solidFill>
            <a:srgbClr val="E2EAF6"/>
          </a:solidFill>
          <a:ln w="8890">
            <a:solidFill>
              <a:srgbClr val="E2EAF6"/>
            </a:solidFill>
            <a:prstDash val="solid"/>
          </a:ln>
        </p:spPr>
      </p:sp>
      <p:sp>
        <p:nvSpPr>
          <p:cNvPr id="14" name="Shape 8"/>
          <p:cNvSpPr/>
          <p:nvPr/>
        </p:nvSpPr>
        <p:spPr>
          <a:xfrm>
            <a:off x="10168128" y="2889504"/>
            <a:ext cx="4279392" cy="3986784"/>
          </a:xfrm>
          <a:prstGeom prst="rect">
            <a:avLst/>
          </a:prstGeom>
          <a:solidFill>
            <a:srgbClr val="FFFFFF"/>
          </a:solidFill>
          <a:ln w="8890">
            <a:solidFill>
              <a:srgbClr val="D7DFE9"/>
            </a:solidFill>
            <a:prstDash val="solid"/>
          </a:ln>
        </p:spPr>
      </p:sp>
      <p:sp>
        <p:nvSpPr>
          <p:cNvPr id="15" name="Shape 9"/>
          <p:cNvSpPr/>
          <p:nvPr/>
        </p:nvSpPr>
        <p:spPr>
          <a:xfrm>
            <a:off x="10168128" y="2889504"/>
            <a:ext cx="4279392" cy="45720"/>
          </a:xfrm>
          <a:prstGeom prst="rect">
            <a:avLst/>
          </a:prstGeom>
          <a:solidFill>
            <a:srgbClr val="2F5BD3"/>
          </a:solidFill>
          <a:ln w="8890">
            <a:solidFill>
              <a:srgbClr val="2F5BD3"/>
            </a:solidFill>
            <a:prstDash val="solid"/>
          </a:ln>
        </p:spPr>
      </p:sp>
      <p:sp>
        <p:nvSpPr>
          <p:cNvPr id="16" name="Text 10"/>
          <p:cNvSpPr/>
          <p:nvPr/>
        </p:nvSpPr>
        <p:spPr>
          <a:xfrm>
            <a:off x="10424160" y="3127248"/>
            <a:ext cx="3767328" cy="512064"/>
          </a:xfrm>
          <a:prstGeom prst="rect">
            <a:avLst/>
          </a:prstGeom>
          <a:noFill/>
          <a:ln/>
        </p:spPr>
        <p:txBody>
          <a:bodyPr wrap="square" lIns="0" tIns="0" rIns="0" bIns="0" rtlCol="0" anchor="t"/>
          <a:lstStyle/>
          <a:p>
            <a:pPr indent="0" marL="0">
              <a:buNone/>
            </a:pPr>
            <a:r>
              <a:rPr lang="en-US" sz="2304" b="1" dirty="0">
                <a:solidFill>
                  <a:srgbClr val="0E1E36"/>
                </a:solidFill>
                <a:latin typeface="PingFang SC" pitchFamily="34" charset="0"/>
                <a:ea typeface="PingFang SC" pitchFamily="34" charset="-122"/>
                <a:cs typeface="PingFang SC" pitchFamily="34" charset="-120"/>
              </a:rPr>
              <a:t>一张纸条，接力完成</a:t>
            </a:r>
            <a:endParaRPr lang="en-US" sz="2304" dirty="0"/>
          </a:p>
        </p:txBody>
      </p:sp>
      <p:sp>
        <p:nvSpPr>
          <p:cNvPr id="17" name="Text 11"/>
          <p:cNvSpPr/>
          <p:nvPr/>
        </p:nvSpPr>
        <p:spPr>
          <a:xfrm>
            <a:off x="10424160" y="3703320"/>
            <a:ext cx="3767328" cy="292608"/>
          </a:xfrm>
          <a:prstGeom prst="rect">
            <a:avLst/>
          </a:prstGeom>
          <a:noFill/>
          <a:ln/>
        </p:spPr>
        <p:txBody>
          <a:bodyPr wrap="square" lIns="0" tIns="0" rIns="0" bIns="0" rtlCol="0" anchor="t"/>
          <a:lstStyle/>
          <a:p>
            <a:pPr indent="0" marL="0">
              <a:buNone/>
            </a:pPr>
            <a:r>
              <a:rPr lang="en-US" sz="1728" b="1" dirty="0">
                <a:solidFill>
                  <a:srgbClr val="2F5BD3"/>
                </a:solidFill>
                <a:latin typeface="PingFang SC" pitchFamily="34" charset="0"/>
                <a:ea typeface="PingFang SC" pitchFamily="34" charset="-122"/>
                <a:cs typeface="PingFang SC" pitchFamily="34" charset="-120"/>
              </a:rPr>
              <a:t>第 1 轮</a:t>
            </a:r>
            <a:endParaRPr lang="en-US" sz="1728" dirty="0"/>
          </a:p>
        </p:txBody>
      </p:sp>
      <p:sp>
        <p:nvSpPr>
          <p:cNvPr id="18" name="Text 12"/>
          <p:cNvSpPr/>
          <p:nvPr/>
        </p:nvSpPr>
        <p:spPr>
          <a:xfrm>
            <a:off x="10424160" y="3968496"/>
            <a:ext cx="3767328" cy="384048"/>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请查张经理的邮箱。</a:t>
            </a:r>
            <a:endParaRPr lang="en-US" sz="2016" dirty="0"/>
          </a:p>
        </p:txBody>
      </p:sp>
      <p:sp>
        <p:nvSpPr>
          <p:cNvPr id="19" name="Text 13"/>
          <p:cNvSpPr/>
          <p:nvPr/>
        </p:nvSpPr>
        <p:spPr>
          <a:xfrm>
            <a:off x="10424160" y="4288536"/>
            <a:ext cx="3767328" cy="292608"/>
          </a:xfrm>
          <a:prstGeom prst="rect">
            <a:avLst/>
          </a:prstGeom>
          <a:noFill/>
          <a:ln/>
        </p:spPr>
        <p:txBody>
          <a:bodyPr wrap="square" lIns="0" tIns="0" rIns="0" bIns="0" rtlCol="0" anchor="t"/>
          <a:lstStyle/>
          <a:p>
            <a:pPr indent="0" marL="0">
              <a:buNone/>
            </a:pPr>
            <a:r>
              <a:rPr lang="en-US" sz="1728" b="1" dirty="0">
                <a:solidFill>
                  <a:srgbClr val="2F5BD3"/>
                </a:solidFill>
                <a:latin typeface="PingFang SC" pitchFamily="34" charset="0"/>
                <a:ea typeface="PingFang SC" pitchFamily="34" charset="-122"/>
                <a:cs typeface="PingFang SC" pitchFamily="34" charset="-120"/>
              </a:rPr>
              <a:t>操作员写回</a:t>
            </a:r>
            <a:endParaRPr lang="en-US" sz="1728" dirty="0"/>
          </a:p>
        </p:txBody>
      </p:sp>
      <p:sp>
        <p:nvSpPr>
          <p:cNvPr id="20" name="Text 14"/>
          <p:cNvSpPr/>
          <p:nvPr/>
        </p:nvSpPr>
        <p:spPr>
          <a:xfrm>
            <a:off x="10424160" y="4553712"/>
            <a:ext cx="3767328" cy="384048"/>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zhang@example.com</a:t>
            </a:r>
            <a:endParaRPr lang="en-US" sz="2016" dirty="0"/>
          </a:p>
        </p:txBody>
      </p:sp>
      <p:sp>
        <p:nvSpPr>
          <p:cNvPr id="21" name="Text 15"/>
          <p:cNvSpPr/>
          <p:nvPr/>
        </p:nvSpPr>
        <p:spPr>
          <a:xfrm>
            <a:off x="10424160" y="4873752"/>
            <a:ext cx="3767328" cy="292608"/>
          </a:xfrm>
          <a:prstGeom prst="rect">
            <a:avLst/>
          </a:prstGeom>
          <a:noFill/>
          <a:ln/>
        </p:spPr>
        <p:txBody>
          <a:bodyPr wrap="square" lIns="0" tIns="0" rIns="0" bIns="0" rtlCol="0" anchor="t"/>
          <a:lstStyle/>
          <a:p>
            <a:pPr indent="0" marL="0">
              <a:buNone/>
            </a:pPr>
            <a:r>
              <a:rPr lang="en-US" sz="1728" b="1" dirty="0">
                <a:solidFill>
                  <a:srgbClr val="2F5BD3"/>
                </a:solidFill>
                <a:latin typeface="PingFang SC" pitchFamily="34" charset="0"/>
                <a:ea typeface="PingFang SC" pitchFamily="34" charset="-122"/>
                <a:cs typeface="PingFang SC" pitchFamily="34" charset="-120"/>
              </a:rPr>
              <a:t>第 2 轮</a:t>
            </a:r>
            <a:endParaRPr lang="en-US" sz="1728" dirty="0"/>
          </a:p>
        </p:txBody>
      </p:sp>
      <p:sp>
        <p:nvSpPr>
          <p:cNvPr id="22" name="Text 16"/>
          <p:cNvSpPr/>
          <p:nvPr/>
        </p:nvSpPr>
        <p:spPr>
          <a:xfrm>
            <a:off x="10424160" y="5138928"/>
            <a:ext cx="3767328" cy="384048"/>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拟好邮件，请你确认。</a:t>
            </a:r>
            <a:endParaRPr lang="en-US" sz="2016" dirty="0"/>
          </a:p>
        </p:txBody>
      </p:sp>
      <p:sp>
        <p:nvSpPr>
          <p:cNvPr id="23" name="Text 17"/>
          <p:cNvSpPr/>
          <p:nvPr/>
        </p:nvSpPr>
        <p:spPr>
          <a:xfrm>
            <a:off x="10424160" y="5458968"/>
            <a:ext cx="3767328" cy="292608"/>
          </a:xfrm>
          <a:prstGeom prst="rect">
            <a:avLst/>
          </a:prstGeom>
          <a:noFill/>
          <a:ln/>
        </p:spPr>
        <p:txBody>
          <a:bodyPr wrap="square" lIns="0" tIns="0" rIns="0" bIns="0" rtlCol="0" anchor="t"/>
          <a:lstStyle/>
          <a:p>
            <a:pPr indent="0" marL="0">
              <a:buNone/>
            </a:pPr>
            <a:r>
              <a:rPr lang="en-US" sz="1728" b="1" dirty="0">
                <a:solidFill>
                  <a:srgbClr val="2F5BD3"/>
                </a:solidFill>
                <a:latin typeface="PingFang SC" pitchFamily="34" charset="0"/>
                <a:ea typeface="PingFang SC" pitchFamily="34" charset="-122"/>
                <a:cs typeface="PingFang SC" pitchFamily="34" charset="-120"/>
              </a:rPr>
              <a:t>你确认后</a:t>
            </a:r>
            <a:endParaRPr lang="en-US" sz="1728" dirty="0"/>
          </a:p>
        </p:txBody>
      </p:sp>
      <p:sp>
        <p:nvSpPr>
          <p:cNvPr id="24" name="Text 18"/>
          <p:cNvSpPr/>
          <p:nvPr/>
        </p:nvSpPr>
        <p:spPr>
          <a:xfrm>
            <a:off x="10424160" y="5724144"/>
            <a:ext cx="3767328" cy="384048"/>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操作员发送，写回结果。</a:t>
            </a:r>
            <a:endParaRPr lang="en-US" sz="2016" dirty="0"/>
          </a:p>
        </p:txBody>
      </p:sp>
      <p:sp>
        <p:nvSpPr>
          <p:cNvPr id="25" name="Text 19"/>
          <p:cNvSpPr/>
          <p:nvPr/>
        </p:nvSpPr>
        <p:spPr>
          <a:xfrm>
            <a:off x="10424160" y="6044184"/>
            <a:ext cx="3767328" cy="292608"/>
          </a:xfrm>
          <a:prstGeom prst="rect">
            <a:avLst/>
          </a:prstGeom>
          <a:noFill/>
          <a:ln/>
        </p:spPr>
        <p:txBody>
          <a:bodyPr wrap="square" lIns="0" tIns="0" rIns="0" bIns="0" rtlCol="0" anchor="t"/>
          <a:lstStyle/>
          <a:p>
            <a:pPr indent="0" marL="0">
              <a:buNone/>
            </a:pPr>
            <a:r>
              <a:rPr lang="en-US" sz="1728" b="1" dirty="0">
                <a:solidFill>
                  <a:srgbClr val="2F5BD3"/>
                </a:solidFill>
                <a:latin typeface="PingFang SC" pitchFamily="34" charset="0"/>
                <a:ea typeface="PingFang SC" pitchFamily="34" charset="-122"/>
                <a:cs typeface="PingFang SC" pitchFamily="34" charset="-120"/>
              </a:rPr>
              <a:t>第 3 轮</a:t>
            </a:r>
            <a:endParaRPr lang="en-US" sz="1728" dirty="0"/>
          </a:p>
        </p:txBody>
      </p:sp>
      <p:sp>
        <p:nvSpPr>
          <p:cNvPr id="26" name="Text 20"/>
          <p:cNvSpPr/>
          <p:nvPr/>
        </p:nvSpPr>
        <p:spPr>
          <a:xfrm>
            <a:off x="10424160" y="6309360"/>
            <a:ext cx="3767328" cy="384048"/>
          </a:xfrm>
          <a:prstGeom prst="rect">
            <a:avLst/>
          </a:prstGeom>
          <a:noFill/>
          <a:ln/>
        </p:spPr>
        <p:txBody>
          <a:bodyPr wrap="square" lIns="0" tIns="0" rIns="0" bIns="0" rtlCol="0" anchor="t"/>
          <a:lstStyle/>
          <a:p>
            <a:pPr indent="0" marL="0">
              <a:buNone/>
            </a:pPr>
            <a:r>
              <a:rPr lang="en-US" sz="2016" dirty="0">
                <a:solidFill>
                  <a:srgbClr val="0E1E36"/>
                </a:solidFill>
                <a:latin typeface="PingFang SC" pitchFamily="34" charset="0"/>
                <a:ea typeface="PingFang SC" pitchFamily="34" charset="-122"/>
                <a:cs typeface="PingFang SC" pitchFamily="34" charset="-120"/>
              </a:rPr>
              <a:t>读到回执，报告完成。</a:t>
            </a:r>
            <a:endParaRPr lang="en-US" sz="2016" dirty="0"/>
          </a:p>
        </p:txBody>
      </p:sp>
      <p:sp>
        <p:nvSpPr>
          <p:cNvPr id="27" name="Text 21"/>
          <p:cNvSpPr/>
          <p:nvPr/>
        </p:nvSpPr>
        <p:spPr>
          <a:xfrm>
            <a:off x="10168128" y="7178040"/>
            <a:ext cx="4462272" cy="548640"/>
          </a:xfrm>
          <a:prstGeom prst="rect">
            <a:avLst/>
          </a:prstGeom>
          <a:noFill/>
          <a:ln/>
        </p:spPr>
        <p:txBody>
          <a:bodyPr wrap="square" lIns="0" tIns="0" rIns="0" bIns="0" rtlCol="0" anchor="t"/>
          <a:lstStyle/>
          <a:p>
            <a:pPr indent="0" marL="0">
              <a:buNone/>
            </a:pPr>
            <a:r>
              <a:rPr lang="en-US" sz="2880" b="1" dirty="0">
                <a:solidFill>
                  <a:srgbClr val="2F5BD3"/>
                </a:solidFill>
                <a:latin typeface="PingFang SC" pitchFamily="34" charset="0"/>
                <a:ea typeface="PingFang SC" pitchFamily="34" charset="-122"/>
                <a:cs typeface="PingFang SC" pitchFamily="34" charset="-120"/>
              </a:rPr>
              <a:t>人写请求，工具执行。</a:t>
            </a:r>
            <a:endParaRPr lang="en-US" sz="2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从写出内容到完成任务</dc:title>
  <dc:subject>第二章：两个房间</dc:subject>
  <dc:creator>Wu</dc:creator>
  <cp:lastModifiedBy>Wu</cp:lastModifiedBy>
  <cp:revision>1</cp:revision>
  <dcterms:created xsi:type="dcterms:W3CDTF">2026-10-22T08:54:07Z</dcterms:created>
  <dcterms:modified xsi:type="dcterms:W3CDTF">2026-10-22T08:54:07Z</dcterms:modified>
</cp:coreProperties>
</file>